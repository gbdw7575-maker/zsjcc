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097280"/>
            <a:ext cx="8534095" cy="508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E6B422"/>
                </a:solidFill>
                <a:latin typeface="Microsoft YaHei"/>
              </a:defRPr>
            </a:pPr>
            <a:r>
              <a:t>掌上金铲铲 — 游戏辅助平台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软件体系结构课程报告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62095" cy="1905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4484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基于 Kruchten 4+1 视图模型与体系选择矩阵法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484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南京理工大学 · 软件体系结构 · 赵庆玲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4484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2026年6月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5760720"/>
            <a:ext cx="85340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03520" cy="11887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项目类型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全栈Web应用（Vue 3 + Express + MongoDB）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0048"/>
            <a:ext cx="5303520" cy="11887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面向领域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金铲铲之战(云顶之弈) S8赛季 「怪兽入侵」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59936"/>
            <a:ext cx="5303520" cy="11887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核心定位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一站式游戏辅助平台：阵容模拟、AI对战指导、社区交流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449824"/>
            <a:ext cx="5303520" cy="11887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部署方式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Docker容器化部署 · Nginx反向代理 · 一键启动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120640" cy="47548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5448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3600" b="1">
                <a:solidFill>
                  <a:srgbClr val="E6B422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60020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个前端页面视图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33172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3600" b="1">
                <a:solidFill>
                  <a:srgbClr val="E6B42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37744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个MongoDB数据模型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10896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3600" b="1">
                <a:solidFill>
                  <a:srgbClr val="E6B422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1546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组RESTful API接口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88620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3600" b="1">
                <a:solidFill>
                  <a:srgbClr val="E6B42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9319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套预设UI主题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66344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3600" b="1">
                <a:solidFill>
                  <a:srgbClr val="E6B42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7091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种混合架构风格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软件体系结构概述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881360" cy="9144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课程定义：「软件体系结构是软件系统的高层抽象，描述了系统由哪些构件组成、构件之间的关系以及它们如何交互」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3383280" cy="292608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E6B422"/>
                </a:solidFill>
                <a:latin typeface="Microsoft YaHei"/>
              </a:defRPr>
            </a:pPr>
            <a:r>
              <a:t>构  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Vue 3 组件（22个页面）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01568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Express 控制器（11个）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85616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Mongoose 数据模型（10个）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9664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Pinia 状态仓库（4个）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5371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AI分析服务模块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468880"/>
            <a:ext cx="3383280" cy="292608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5603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399FF"/>
                </a:solidFill>
                <a:latin typeface="Microsoft YaHei"/>
              </a:defRPr>
            </a:pPr>
            <a:r>
              <a:t>连接件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01752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RESTful API 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401568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Socket.IO 事件推送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785616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Vue Router 路由跳转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169664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Props / Events 组件通信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55371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Axios HTTP 拦截器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468880"/>
            <a:ext cx="3383280" cy="292608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5603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CC66"/>
                </a:solidFill>
                <a:latin typeface="Microsoft YaHei"/>
              </a:defRPr>
            </a:pPr>
            <a:r>
              <a:t>约  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01752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前后端完全分离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401568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JWT 无状态认证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785616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分层架构：表现层→业务层→数据层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69664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接口版本化管理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5371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Docker 环境一致性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E6B422"/>
                </a:solidFill>
                <a:latin typeface="Microsoft YaHei"/>
              </a:defRPr>
            </a:pPr>
            <a:r>
              <a:t>项目架构一览： 浏览器 ↔ Nginx → Express → MongoDB + 外部AI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5943600"/>
            <a:ext cx="9448495" cy="1905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软件体系结构生命周期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011680" cy="25603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399FF"/>
                </a:solidFill>
                <a:latin typeface="Microsoft YaHei"/>
              </a:defRPr>
            </a:pPr>
            <a:r>
              <a:t>1. 需求分析阶段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1645920" cy="127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7373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玩家痛点分析</a:t>
            </a:r>
            <a:br/>
            <a:r>
              <a:t>→ 功能需求规约</a:t>
            </a:r>
            <a:br/>
            <a:r>
              <a:t>→ 非功能需求定义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22860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E6B422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371600"/>
            <a:ext cx="2011680" cy="25603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48132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2. 体系结构设计阶段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965960"/>
            <a:ext cx="1645920" cy="127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103120"/>
            <a:ext cx="17373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选择B/S+分层+MVVM</a:t>
            </a:r>
            <a:br/>
            <a:r>
              <a:t>→ 4+1视图建模</a:t>
            </a:r>
            <a:br/>
            <a:r>
              <a:t>→ 风格选择矩阵计算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22860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E6B422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371600"/>
            <a:ext cx="2011680" cy="25603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48132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CC66"/>
                </a:solidFill>
                <a:latin typeface="Microsoft YaHei"/>
              </a:defRPr>
            </a:pPr>
            <a:r>
              <a:t>3. 体系结构实现阶段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965960"/>
            <a:ext cx="1645920" cy="127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2103120"/>
            <a:ext cx="17373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Vue3 SPA + Express</a:t>
            </a:r>
            <a:br/>
            <a:r>
              <a:t>→ REST API + MongoDB</a:t>
            </a:r>
            <a:br/>
            <a:r>
              <a:t>→ Docker容器化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22860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E6B422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371600"/>
            <a:ext cx="2011680" cy="25603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48132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9900"/>
                </a:solidFill>
                <a:latin typeface="Microsoft YaHei"/>
              </a:defRPr>
            </a:pPr>
            <a:r>
              <a:t>4. 体系结构验证阶段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1965960"/>
            <a:ext cx="1645920" cy="127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103120"/>
            <a:ext cx="17373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功能测试</a:t>
            </a:r>
            <a:br/>
            <a:r>
              <a:t>→ 性能测试</a:t>
            </a:r>
            <a:br/>
            <a:r>
              <a:t>→ 安全测试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5208" y="22860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E6B422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1371600"/>
            <a:ext cx="2011680" cy="25603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48132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5555"/>
                </a:solidFill>
                <a:latin typeface="Microsoft YaHei"/>
              </a:defRPr>
            </a:pPr>
            <a:r>
              <a:t>5. 维护与演化阶段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1965960"/>
            <a:ext cx="1645920" cy="127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2103120"/>
            <a:ext cx="17373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赛季数据更新</a:t>
            </a:r>
            <a:br/>
            <a:r>
              <a:t>→ AI模型切换</a:t>
            </a:r>
            <a:br/>
            <a:r>
              <a:t>→ 新功能扩展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206240"/>
            <a:ext cx="108813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本项目的生命周期严格遵循课程第2章定义的阶段：需求分析→体系结构设计→实现→验证→维护演化</a:t>
            </a:r>
            <a:br/>
            <a:r>
              <a:t>在每个阶段中都充分考虑了该阶段的核心任务和产出物，确保体系结构的完整性和一致性。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逻辑视图 — 面向对象的分解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6858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课程引用：「逻辑视图主要支持功能需求——系统应当向用户提供什么样的服务。从问题域出发，采用面向对象的方法，按照抽象、封装、继承的原则进行分解。」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606040" cy="32004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E6B422"/>
                </a:solidFill>
                <a:latin typeface="Microsoft YaHei"/>
              </a:defRPr>
            </a:pPr>
            <a:r>
              <a:t>用户子系统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06040"/>
            <a:ext cx="224028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User 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Auth 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JWT Token 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4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Profile 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2103120"/>
            <a:ext cx="2606040" cy="32004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219456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399FF"/>
                </a:solidFill>
                <a:latin typeface="Microsoft YaHei"/>
              </a:defRPr>
            </a:pPr>
            <a:r>
              <a:t>游戏数据子系统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0168" y="2606040"/>
            <a:ext cx="224028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74320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Hero 类（英雄）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15468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Equipment 类（装备）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356616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Synergy 类（羁绊）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97764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Augment 类（海克斯）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2103120"/>
            <a:ext cx="2606040" cy="32004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19456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0CC66"/>
                </a:solidFill>
                <a:latin typeface="Microsoft YaHei"/>
              </a:defRPr>
            </a:pPr>
            <a:r>
              <a:t>棋盘子系统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7376" y="2606040"/>
            <a:ext cx="224028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274320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Board 类（棋盘）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15468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Cell 类（格子）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56616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Chess 类（棋子）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97764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TeamLineup 类（阵容）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61704" y="2103120"/>
            <a:ext cx="2606040" cy="32004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4" y="219456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9900"/>
                </a:solidFill>
                <a:latin typeface="Microsoft YaHei"/>
              </a:defRPr>
            </a:pPr>
            <a:r>
              <a:t>AI分析子系统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44584" y="2606040"/>
            <a:ext cx="224028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44584" y="274320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ScreenCapture 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584" y="315468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AIAnalyzer 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6616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FrameValidator 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4584" y="397764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RecommendEngine 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逻辑视图 — 类关系与职责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486400" cy="27432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6B422"/>
                </a:solidFill>
                <a:latin typeface="Microsoft YaHei"/>
              </a:defRPr>
            </a:pPr>
            <a:r>
              <a:t>关键类关系图（UML 表述）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User ──1:N──▶ TeamLineup   (用户保存多套阵容)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59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Board ──1:N──▶ Chess       (棋盘包含多个棋子)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599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Chess ──N:1──▶ Hero        (棋子引用英雄数据)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39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Equipment ──N:M──▶ Hero    (装备可配多个英雄)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79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Post ──1:N──▶ Comment      (帖子有多条评论)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AIAnalyzer ──1:1──▶ FrameValidator (AI使用帧验证)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80160"/>
            <a:ext cx="5212080" cy="27432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6B422"/>
                </a:solidFill>
                <a:latin typeface="Microsoft YaHei"/>
              </a:defRPr>
            </a:pPr>
            <a:r>
              <a:t>类模板示例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828800"/>
            <a:ext cx="2286000" cy="2011680"/>
          </a:xfrm>
          <a:prstGeom prst="roundRect">
            <a:avLst/>
          </a:prstGeom>
          <a:solidFill>
            <a:srgbClr val="1A1A3A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Hero 类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──────────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name: String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cost: Number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traits[]: String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skills[]: Object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icon: String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828800"/>
            <a:ext cx="2286000" cy="2011680"/>
          </a:xfrm>
          <a:prstGeom prst="roundRect">
            <a:avLst/>
          </a:prstGeom>
          <a:solidFill>
            <a:srgbClr val="1A1A3A"/>
          </a:solidFill>
          <a:ln w="63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Board 类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──────────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cells[8][7]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activeChesses[]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addChess()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removeChess()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calculateSynergies()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8813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系统采用面向对象风格进行逻辑分解，核心实体类围绕游戏领域模型（英雄、装备、羁绊、棋盘、阵容）和社交功能（用户、帖子、评论）构建。</a:t>
            </a:r>
            <a:br/>
            <a:r>
              <a:t>前端Vue组件将每个页面也视为对象，通过Props（属性传递）和Events（事件回调）进行协作，体现了封装和信息隐藏的面向对象原则。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过程视图 — 并发与同步设计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64008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课程引用：「过程体系结构考虑的是非功能性的需求，诸如性能、可用性等。它所面对的问题有并发、分布、系统的完整性、容错能力等。」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394960" cy="34747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399FF"/>
                </a:solidFill>
                <a:latin typeface="Microsoft YaHei"/>
              </a:defRPr>
            </a:pPr>
            <a:r>
              <a:t>主任务（Main Tasks）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68880"/>
            <a:ext cx="484632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CCCCC"/>
                </a:solidFill>
                <a:latin typeface="Microsoft YaHei"/>
              </a:defRPr>
            </a:pPr>
            <a:r>
              <a:t>● HTTP请求处理任务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80360"/>
            <a:ext cx="4663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Express异步非阻塞I/O，</a:t>
            </a:r>
            <a:br/>
            <a:r>
              <a:t>Node.js事件循环模型处理并发请求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CCCCC"/>
                </a:solidFill>
                <a:latin typeface="Microsoft YaHei"/>
              </a:defRPr>
            </a:pPr>
            <a:r>
              <a:t>● WebSocket实时通信任务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66160"/>
            <a:ext cx="4663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Socket.IO事件驱动循环，</a:t>
            </a:r>
            <a:br/>
            <a:r>
              <a:t>维护在线用户Map，实时推送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CCCCC"/>
                </a:solidFill>
                <a:latin typeface="Microsoft YaHei"/>
              </a:defRPr>
            </a:pPr>
            <a:r>
              <a:t>● AI分析管道任务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51960"/>
            <a:ext cx="4663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异步调用外部大模型API，</a:t>
            </a:r>
            <a:br/>
            <a:r>
              <a:t>非阻塞等待，回调处理结果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CCCCC"/>
                </a:solidFill>
                <a:latin typeface="Microsoft YaHei"/>
              </a:defRPr>
            </a:pPr>
            <a:r>
              <a:t>● OCR识别任务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937760"/>
            <a:ext cx="4663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Tesseract.js Worker线程，</a:t>
            </a:r>
            <a:br/>
            <a:r>
              <a:t>避免阻塞主渲染线程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011680"/>
            <a:ext cx="5212080" cy="34747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CC66"/>
                </a:solidFill>
                <a:latin typeface="Microsoft YaHei"/>
              </a:defRPr>
            </a:pPr>
            <a:r>
              <a:t>辅任务（Auxiliary Tasks）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468880"/>
            <a:ext cx="466344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60604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CCCCC"/>
                </a:solidFill>
                <a:latin typeface="Microsoft YaHei"/>
              </a:defRPr>
            </a:pPr>
            <a:r>
              <a:t>● Token刷新定时器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88036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JWT Token过期前自动刷新，</a:t>
            </a:r>
            <a:br/>
            <a:r>
              <a:t>保证用户会话不中断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429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CCCCC"/>
                </a:solidFill>
                <a:latin typeface="Microsoft YaHei"/>
              </a:defRPr>
            </a:pPr>
            <a:r>
              <a:t>● 在线状态心跳检测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70332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定时Ping/Pong保持WebSocket连接，</a:t>
            </a:r>
            <a:br/>
            <a:r>
              <a:t>超时断连自动清理在线列表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2519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CCCCC"/>
                </a:solidFill>
                <a:latin typeface="Microsoft YaHei"/>
              </a:defRPr>
            </a:pPr>
            <a:r>
              <a:t>● 缓存清理任务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2628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定期清理过期AI分析结果、</a:t>
            </a:r>
            <a:br/>
            <a:r>
              <a:t>临时截图文件，释放存储空间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Node.js 事件驱动 + 异步非阻塞I/O 天然适合I/O密集型场景（API调用、数据库查询、外部AI请求），Worker线程隔离CPU密集型OCR任务，保证主线程响应能力。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过程视图 — 关键运行时流程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881360" cy="146304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9900"/>
                </a:solidFill>
                <a:latin typeface="Microsoft YaHei"/>
              </a:defRPr>
            </a:pPr>
            <a:r>
              <a:t>流程1：AI实时分析管道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① 浏览器捕获屏幕帧(JPEG, 0.6质量)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70992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E6B42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69164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② HTTP POST →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70992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E6B42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69164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③ Express异步调用通义千问/智谱AI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70992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E6B42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4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④ 解析JSON响应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70992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E6B42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69164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⑤ 多帧历史数据交叉验证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70992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E6B42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169164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⑥ WebSocket推送分析结果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169164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⑦ 前端展示建议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26080"/>
            <a:ext cx="10881360" cy="11887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971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99FF"/>
                </a:solidFill>
                <a:latin typeface="Microsoft YaHei"/>
              </a:defRPr>
            </a:pPr>
            <a:r>
              <a:t>流程2：数据加载管道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375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① 组件挂载触发加载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35584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E6B42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3375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② 请求后端MongoDB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35584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E6B42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3375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③ [成功]缓存+渲染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35584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E6B42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375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[失败]加载本地数据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3375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④ 渲染界面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297680"/>
            <a:ext cx="10881360" cy="11887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3434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CC66"/>
                </a:solidFill>
                <a:latin typeface="Microsoft YaHei"/>
              </a:defRPr>
            </a:pPr>
            <a:r>
              <a:t>流程3：WebSocket私信流程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709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① 用户登录建立Socket.IO连接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72744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E6B42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4709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② 服务端维护在线用户Map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472744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E6B42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709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③ 发送方emit(private_message)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472744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E6B42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709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④ 服务端查找接收方socketId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472744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E6B42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4709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⑤ 转发至接收方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472744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E6B42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4709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⑥ 接收方实时显示消息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开发视图 — 子系统分解与模块组织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59436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课程引用：「开发视图关注的是在软件开发环境中软件模块的实际组织。子系统被组织成层次化的体系。」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474720" cy="3931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84832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E6B422"/>
                </a:solidFill>
                <a:latin typeface="Microsoft YaHei"/>
              </a:defRPr>
            </a:pPr>
            <a:r>
              <a:t>前端层（4个子系统）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50592"/>
            <a:ext cx="31089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▸ Views 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22个页面组件，路由懒加载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▸ Stores 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47288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Pinia状态管理</a:t>
            </a:r>
            <a:br/>
            <a:r>
              <a:t>(user/theme/game/forum)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▸ Services 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33088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API/AI/OCR/WebSocket/LCU桥接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▸ Data 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18888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本地游戏数据（英雄/装备/羁绊）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011680"/>
            <a:ext cx="3474720" cy="3931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084832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399FF"/>
                </a:solidFill>
                <a:latin typeface="Microsoft YaHei"/>
              </a:defRPr>
            </a:pPr>
            <a:r>
              <a:t>后端层（4个子系统）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2450592"/>
            <a:ext cx="31089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56032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▸ Routes 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761488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10组API路由定义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24612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▸ Controllers 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447288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11个业务逻辑控制器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93192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▸ Models 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133088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10个Mongoose数据模型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61772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▸ Middleware 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818888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认证/权限/验证/上传中间件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011680"/>
            <a:ext cx="3474720" cy="3931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084832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0CC66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450592"/>
            <a:ext cx="31089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56032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▸ 数据库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761488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MongoDB 文档数据库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4612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▸ 容器编排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447288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Docker Compose 三容器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93192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▸ 反向代理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133088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Nginx 静态+API代理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61772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▸ 外部服务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818888"/>
            <a:ext cx="2971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通义千问/智谱AI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开发视图 — 层次化架构与依赖关系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486400" cy="59436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CC66"/>
                </a:solidFill>
                <a:latin typeface="Microsoft YaHei"/>
              </a:defRPr>
            </a:pPr>
            <a:r>
              <a:t>① Views（页面组件）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993392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E6B422"/>
                </a:solidFill>
                <a:latin typeface="Microsoft YaHei"/>
              </a:defRPr>
            </a:pPr>
            <a:r>
              <a:t>↓ 依赖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5486400" cy="59436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99FF"/>
                </a:solidFill>
                <a:latin typeface="Microsoft YaHei"/>
              </a:defRPr>
            </a:pPr>
            <a:r>
              <a:t>② Stores +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816352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E6B422"/>
                </a:solidFill>
                <a:latin typeface="Microsoft YaHei"/>
              </a:defRPr>
            </a:pPr>
            <a:r>
              <a:t>↓ 依赖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17520"/>
            <a:ext cx="5486400" cy="59436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9900"/>
                </a:solidFill>
                <a:latin typeface="Microsoft YaHei"/>
              </a:defRPr>
            </a:pPr>
            <a:r>
              <a:t>③ Services（API/AI/Socket/OCR）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639312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E6B422"/>
                </a:solidFill>
                <a:latin typeface="Microsoft YaHei"/>
              </a:defRPr>
            </a:pPr>
            <a:r>
              <a:t>↓ 依赖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40480"/>
            <a:ext cx="5486400" cy="59436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B422"/>
                </a:solidFill>
                <a:latin typeface="Microsoft YaHei"/>
              </a:defRPr>
            </a:pPr>
            <a:r>
              <a:t>④ Express Routes → Controllers →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462272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E6B422"/>
                </a:solidFill>
                <a:latin typeface="Microsoft YaHei"/>
              </a:defRPr>
            </a:pPr>
            <a:r>
              <a:t>↓ 依赖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63440"/>
            <a:ext cx="5486400" cy="59436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5555"/>
                </a:solidFill>
                <a:latin typeface="Microsoft YaHei"/>
              </a:defRPr>
            </a:pPr>
            <a:r>
              <a:t>⑤ MongoDB 数据库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280160"/>
            <a:ext cx="4937760" cy="27432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E6B422"/>
                </a:solidFill>
                <a:latin typeface="Microsoft YaHei"/>
              </a:defRPr>
            </a:pPr>
            <a:r>
              <a:t>层次化设计规则（源自课件第8章）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783080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✓ 每层只为紧邻上层提供接口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103120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✓ 上层只依赖直接下层（降低耦合）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423160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✓ 层次间通过明确定义的接口通信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743200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✓ 适当允许越层操作（前端通过Services层统一封装所有外部API通信）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63240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✓ 前端Views不直接调用后端Models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✓ Services层封装所有外部通信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分层架构的核心优势：各层独立开发、独立测试、独立部署。前端只需知道API接口约定，后端只需遵循MVC模式处理请求。Docker容器化后，前后端完全解耦，各自独立扩展。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物理视图 — 软件到硬件的映射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5029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课程引用：「物理体系结构主要考虑的是非功能性的系统需求，如系统的可用性、可靠性(容错性)、性能(信息吞吐量)和可扩展性。软件系统在计算机网络的各个处理节点上运行。」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2103120" cy="100584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用户浏览器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51760" y="2423160"/>
            <a:ext cx="457200" cy="274320"/>
          </a:xfrm>
          <a:prstGeom prst="rightArrow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2057400"/>
            <a:ext cx="594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E6B422"/>
                </a:solidFill>
                <a:latin typeface="Microsoft YaHei"/>
              </a:defRPr>
            </a:pPr>
            <a:r>
              <a:t>HTTPS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057400"/>
            <a:ext cx="2560320" cy="100584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Nginx :80</a:t>
            </a:r>
          </a:p>
          <a:p>
            <a:pPr algn="ct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静态文件服务 · 反向代理 · Gzip压缩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06440" y="2423160"/>
            <a:ext cx="457200" cy="274320"/>
          </a:xfrm>
          <a:prstGeom prst="rightArrow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057400"/>
            <a:ext cx="594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E6B422"/>
                </a:solidFill>
                <a:latin typeface="Microsoft YaHei"/>
              </a:defRPr>
            </a:pPr>
            <a:r>
              <a:t>/api/*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57400"/>
            <a:ext cx="2560320" cy="100584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Express :3000</a:t>
            </a:r>
          </a:p>
          <a:p>
            <a:pPr algn="ct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RESTful API · 业务逻辑 · 认证鉴权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86200"/>
            <a:ext cx="2743200" cy="100584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MongoDB :27017</a:t>
            </a:r>
          </a:p>
          <a:p>
            <a:pPr algn="ct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数据持久化 · 索引查询 · 连接重试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154680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6B422"/>
                </a:solidFill>
                <a:latin typeface="Microsoft YaHei"/>
              </a:defRPr>
            </a:pPr>
            <a:r>
              <a:t>↓ 静态资源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154680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6B422"/>
                </a:solidFill>
                <a:latin typeface="Microsoft YaHei"/>
              </a:defRPr>
            </a:pPr>
            <a:r>
              <a:t>↙ Mongoose 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886200"/>
            <a:ext cx="2926080" cy="100584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阿里云 通义千问 API (qwen3-vl-plus)</a:t>
            </a:r>
          </a:p>
          <a:p>
            <a:pPr algn="ct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视觉大模型 · 结构化 JSON 输出 · 图像识别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886200"/>
            <a:ext cx="2926080" cy="100584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C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智谱AI GLM-4V API</a:t>
            </a:r>
          </a:p>
          <a:p>
            <a:pPr algn="ct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视觉大模型 · 双模型切换 · 备用方案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10896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6B422"/>
                </a:solidFill>
                <a:latin typeface="Microsoft YaHei"/>
              </a:defRPr>
            </a:pPr>
            <a:r>
              <a:t>↘ HTTPS 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12080"/>
            <a:ext cx="11247120" cy="68580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Docker 容器化部署：docker-compose.yml 编排 3 个容器（Nginx + Express + MongoDB） →  自定义桥接网络  →  命名卷持久化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启动方式：docker-compose up -d    或    双击 start.bat 一键启动（自动检测端口占用）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物理视图 — 部署配置与环境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645920" cy="502920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环境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2103120" cy="502920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2103120" cy="502920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2468880" cy="502920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560320" cy="502920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164592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开发环境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965960"/>
            <a:ext cx="210312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Vite :5173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210312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Express :3000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965960"/>
            <a:ext cx="246888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本地MongoDB :27017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965960"/>
            <a:ext cx="256032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HMR热更新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164592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生产环境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2560320"/>
            <a:ext cx="210312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Nginx :80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560320"/>
            <a:ext cx="210312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Express :3000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560320"/>
            <a:ext cx="246888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MongoDB容器 :27017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560320"/>
            <a:ext cx="256032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Docker编排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54680"/>
            <a:ext cx="164592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AI服务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154680"/>
            <a:ext cx="210312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154680"/>
            <a:ext cx="210312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HTTPS外部调用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154680"/>
            <a:ext cx="246888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154680"/>
            <a:ext cx="2560320" cy="5029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通义千问/智谱AI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31920"/>
            <a:ext cx="2651760" cy="21031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05072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CC66"/>
                </a:solidFill>
                <a:latin typeface="Microsoft YaHei"/>
              </a:defRPr>
            </a:pPr>
            <a:r>
              <a:t>Nginx 节点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315968"/>
            <a:ext cx="228600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348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静态资源服务（Vue SPA dist文件）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7548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Gzip 压缩（减少传输体积）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反向代理（/api/* → Express :3000）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949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潜在负载均衡扩展点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3931920"/>
            <a:ext cx="2651760" cy="21031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005072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399FF"/>
                </a:solidFill>
                <a:latin typeface="Microsoft YaHei"/>
              </a:defRPr>
            </a:pPr>
            <a:r>
              <a:t>Express 节点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4315968"/>
            <a:ext cx="228600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44348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JWT 无状态认证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7548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业务逻辑处理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5074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API 频率限制（500次/15min）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53949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文件上传处理（Multer）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931920"/>
            <a:ext cx="2651760" cy="21031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4005072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9900"/>
                </a:solidFill>
                <a:latin typeface="Microsoft YaHei"/>
              </a:defRPr>
            </a:pPr>
            <a:r>
              <a:t>MongoDB 节点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315968"/>
            <a:ext cx="228600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44348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数据持久化存储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7548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索引优化（查询加速）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074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连接重试（5次自动重连）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3949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命名卷数据持久化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3931920"/>
            <a:ext cx="2651760" cy="21031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4005072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5555"/>
                </a:solidFill>
                <a:latin typeface="Microsoft YaHei"/>
              </a:defRPr>
            </a:pPr>
            <a:r>
              <a:t>AI 节点（外部）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4315968"/>
            <a:ext cx="228600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06840" y="44348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视觉大模型推理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47548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JSON 结构化响应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5074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多帧数据缓存验证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53949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• 双模型可切换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场景视图 — 用例驱动的体系结构验证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54864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课程引用：「场景是最重要的需求的抽象。在体系结构设计中，将以此视图为驱动来发现体系结构元素；设计结束后，此视图承担验证和描述的角色。」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0881360" cy="128016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3911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99FF"/>
                </a:solidFill>
                <a:latin typeface="Microsoft YaHei"/>
              </a:defRPr>
            </a:pPr>
            <a:r>
              <a:t>场景1：用户登录并模拟阵容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用户→打开登录页→输入账号密码→POST /api/users/login→JWT验证→返回Token→进入首页→打开阵容模拟器→GET /api/lineups→渲染棋盘→拖拽英雄棋子→Pinia更新board状态→自动计算羁绊→POST /api/lineups保存阵容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83280"/>
            <a:ext cx="10881360" cy="128016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5643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9900"/>
                </a:solidFill>
                <a:latin typeface="Microsoft YaHei"/>
              </a:defRPr>
            </a:pPr>
            <a:r>
              <a:t>场景2：AI实时对战指导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用户进入对局→点击「开始分析」→getDisplayMedia()捕获屏幕→定时发送帧→POST通义千问API→解析JSON(血量/等级/金币/阵容)→多帧验证→WebSocket推送→前端展示运营建议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00600"/>
            <a:ext cx="10881360" cy="128016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737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CC66"/>
                </a:solidFill>
                <a:latin typeface="Microsoft YaHei"/>
              </a:defRPr>
            </a:pPr>
            <a:r>
              <a:t>场景3：论坛内容审核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用户发布帖子→POST /api/posts→status='pending'→管理员登录后台→GET待审核列表→审核通过→PUT /api/admin/posts/:id→status='published'→帖子公开展示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采用的体系结构风格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20116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399FF"/>
                </a:solidFill>
                <a:latin typeface="Microsoft YaHei"/>
              </a:defRPr>
            </a:pPr>
            <a:r>
              <a:t>① B/S架构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3291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课件第10章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31089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浏览器-服务器模式</a:t>
            </a:r>
            <a:br/>
            <a:r>
              <a:t>前后端完全分离</a:t>
            </a:r>
            <a:br/>
            <a:r>
              <a:t>RESTful API通信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74720" cy="20116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0CC66"/>
                </a:solidFill>
                <a:latin typeface="Microsoft YaHei"/>
              </a:defRPr>
            </a:pPr>
            <a:r>
              <a:t>② 分层架构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55648"/>
            <a:ext cx="3291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课件第8章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65960"/>
            <a:ext cx="31089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表现层(Vue)→业务层</a:t>
            </a:r>
            <a:br/>
            <a:r>
              <a:t>(Express)→数据持久层</a:t>
            </a:r>
            <a:br/>
            <a:r>
              <a:t>(MongoDB)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474720" cy="20116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6304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9900"/>
                </a:solidFill>
                <a:latin typeface="Microsoft YaHei"/>
              </a:defRPr>
            </a:pPr>
            <a:r>
              <a:t>③ MVVM模式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55648"/>
            <a:ext cx="3291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课件第7章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965960"/>
            <a:ext cx="31089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05740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View(Vue模板)</a:t>
            </a:r>
            <a:br/>
            <a:r>
              <a:t>↔ViewModel(Pinia)</a:t>
            </a:r>
            <a:br/>
            <a:r>
              <a:t>↔Model(Services)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3474720" cy="20116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4904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5555"/>
                </a:solidFill>
                <a:latin typeface="Microsoft YaHei"/>
              </a:defRPr>
            </a:pPr>
            <a:r>
              <a:t>④ 事件驱动架构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41648"/>
            <a:ext cx="3291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课件第6章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251960"/>
            <a:ext cx="31089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34340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Socket.IO事件注册/监听</a:t>
            </a:r>
            <a:br/>
            <a:r>
              <a:t>消息实时推送</a:t>
            </a:r>
            <a:br/>
            <a:r>
              <a:t>发布-订阅模式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657600"/>
            <a:ext cx="3474720" cy="20116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74904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E6B422"/>
                </a:solidFill>
                <a:latin typeface="Microsoft YaHei"/>
              </a:defRPr>
            </a:pPr>
            <a:r>
              <a:t>⑤ 管道-过滤器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041648"/>
            <a:ext cx="3291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课件第4章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251960"/>
            <a:ext cx="31089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34340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AI分析过程中数据</a:t>
            </a:r>
            <a:br/>
            <a:r>
              <a:t>流经多个处理阶段</a:t>
            </a:r>
            <a:br/>
            <a:r>
              <a:t>逐步转换处理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657600"/>
            <a:ext cx="3474720" cy="20116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C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74904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CC66FF"/>
                </a:solidFill>
                <a:latin typeface="Microsoft YaHei"/>
              </a:defRPr>
            </a:pPr>
            <a:r>
              <a:t>⑥ 面向对象风格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041648"/>
            <a:ext cx="3291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课件第7章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4251960"/>
            <a:ext cx="31089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34340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前端组件化</a:t>
            </a:r>
            <a:br/>
            <a:r>
              <a:t>后端MVC架构</a:t>
            </a:r>
            <a:br/>
            <a:r>
              <a:t>基于对象封装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混合体系结构风格的设计原理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029200" cy="27432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E6B422"/>
                </a:solidFill>
                <a:latin typeface="Microsoft YaHei"/>
              </a:defRPr>
            </a:pPr>
            <a:r>
              <a:t>为什么采用混合风格？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不同的子系统面临不同的设计问题，需要不同的架构风格来解决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▸ B/S架构承载整体系统框架 — 定义浏览器与服务器的通信模式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59736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▸ 分层架构组织代码、管理依赖 — 降低模块耦合，提高内聚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98064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▸ MVVM驱动前端交互 — 解耦视图与业务逻辑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3639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▸ 事件驱动支撑实时通信 — Socket.IO异步消息推送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▸ 管道模式优化AI数据处理流程 — 逐步转换验证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3716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E6B422"/>
                </a:solidFill>
                <a:latin typeface="Microsoft YaHei"/>
              </a:defRPr>
            </a:pPr>
            <a:r>
              <a:t>风格与子系统的映射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783080"/>
            <a:ext cx="1737360" cy="384048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B422"/>
                </a:solidFill>
                <a:latin typeface="Microsoft YaHei"/>
              </a:defRPr>
            </a:pPr>
            <a:r>
              <a:t>子系统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783080"/>
            <a:ext cx="2011680" cy="384048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B422"/>
                </a:solidFill>
                <a:latin typeface="Microsoft YaHei"/>
              </a:defRPr>
            </a:pPr>
            <a:r>
              <a:t>主要风格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783080"/>
            <a:ext cx="2011680" cy="384048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B422"/>
                </a:solidFill>
                <a:latin typeface="Microsoft YaHei"/>
              </a:defRPr>
            </a:pPr>
            <a:r>
              <a:t>次要风格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240280"/>
            <a:ext cx="173736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前端UI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240280"/>
            <a:ext cx="201168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MVVM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240280"/>
            <a:ext cx="201168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面向对象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2697480"/>
            <a:ext cx="173736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后端API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2697480"/>
            <a:ext cx="201168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分层架构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697480"/>
            <a:ext cx="201168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RESTful(B/S)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154680"/>
            <a:ext cx="173736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实时消息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3154680"/>
            <a:ext cx="201168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事件驱动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3154680"/>
            <a:ext cx="201168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发布-订阅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3611880"/>
            <a:ext cx="173736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AI分析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3611880"/>
            <a:ext cx="201168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管道-过滤器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3611880"/>
            <a:ext cx="201168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客户-服务器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4069080"/>
            <a:ext cx="173736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数据管理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4069080"/>
            <a:ext cx="201168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仓库风格(MongoDB)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4069080"/>
            <a:ext cx="201168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分层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混合架构思想：大型实际系统很少采用单一体系统结构风格。本项目的各子系统有着不同的设计约束和质量需求，因此自然地采用了混合风格策略。前端MVVM关注用户交互体验，后端分层架构关注代码组织和可维护性，AI分析管道关注数据处理的有序性和可验证性，事件驱动关注实时通信的低延迟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体系选择矩阵法 — 质量需求分析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5029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课程引用（课件第3章、第13章）：「使用体系选择矩阵法，根据项目的质量需求期望值，计算各体系结构风格的匹配分数」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743200" cy="384048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质量需求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2743200" cy="384048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期望值（0-4）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5394960" cy="384048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59152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组件重用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359152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359152"/>
            <a:ext cx="539496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英雄/装备数据多页面共享，组件高度复用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98064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组件更换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798064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798064"/>
            <a:ext cx="539496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AI模型、OCR引擎需可替换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36976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组件移位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236976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236976"/>
            <a:ext cx="539496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前后端分离部署，服务可独立迁移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75888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组件无关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675888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675888"/>
            <a:ext cx="539496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前端组件独立开发、独立测试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14800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组件互通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14800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114800"/>
            <a:ext cx="539496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前后端API通信、WebSocket实时通信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53712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接口变换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553712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553712"/>
            <a:ext cx="539496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RESTful接口版本化管理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992624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计算性能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992624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992624"/>
            <a:ext cx="539496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AI响应时间可接受延迟（非实时计算）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431536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节省空间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5431536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431536"/>
            <a:ext cx="539496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Web端无需考虑存储空间限制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870448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容错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870448"/>
            <a:ext cx="274320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5870448"/>
            <a:ext cx="5394960" cy="38404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数据回退机制、AI多帧验证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期望值说明：4 = 强烈需要  |  3 = 需要  |  2 = 一般  |  1 = 不太需要  |  0 = 不需要</a:t>
            </a:r>
            <a:br/>
            <a:r>
              <a:t>本项目偏向组件重用和通信（前后端协作），对存储空间和计算性能要求相对较低（Web端 + AI异步处理）。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体系选择矩阵法 — 风格匹配计算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" y="1371600"/>
            <a:ext cx="1024128" cy="347472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E6B422"/>
                </a:solidFill>
                <a:latin typeface="Microsoft YaHe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1252728" y="1371600"/>
            <a:ext cx="1024128" cy="347472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E6B422"/>
                </a:solidFill>
                <a:latin typeface="Microsoft YaHei"/>
              </a:defRPr>
            </a:pPr>
            <a:r>
              <a:t>重用(4)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76856" y="1371600"/>
            <a:ext cx="1024128" cy="347472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E6B422"/>
                </a:solidFill>
                <a:latin typeface="Microsoft YaHei"/>
              </a:defRPr>
            </a:pPr>
            <a:r>
              <a:t>更换(4)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0984" y="1371600"/>
            <a:ext cx="1024128" cy="347472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E6B422"/>
                </a:solidFill>
                <a:latin typeface="Microsoft YaHei"/>
              </a:defRPr>
            </a:pPr>
            <a:r>
              <a:t>移位(3)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371600"/>
            <a:ext cx="1024128" cy="347472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E6B422"/>
                </a:solidFill>
                <a:latin typeface="Microsoft YaHei"/>
              </a:defRPr>
            </a:pPr>
            <a:r>
              <a:t>无关(3)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1371600"/>
            <a:ext cx="1024128" cy="347472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E6B422"/>
                </a:solidFill>
                <a:latin typeface="Microsoft YaHei"/>
              </a:defRPr>
            </a:pPr>
            <a:r>
              <a:t>互通(4)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1371600"/>
            <a:ext cx="1024128" cy="347472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E6B422"/>
                </a:solidFill>
                <a:latin typeface="Microsoft YaHei"/>
              </a:defRPr>
            </a:pPr>
            <a:r>
              <a:t>变换(3)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7496" y="1371600"/>
            <a:ext cx="1024128" cy="347472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E6B422"/>
                </a:solidFill>
                <a:latin typeface="Microsoft YaHei"/>
              </a:defRPr>
            </a:pPr>
            <a:r>
              <a:t>性能(2)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21624" y="1371600"/>
            <a:ext cx="1024128" cy="347472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E6B422"/>
                </a:solidFill>
                <a:latin typeface="Microsoft YaHei"/>
              </a:defRPr>
            </a:pPr>
            <a:r>
              <a:t>空间(1)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45752" y="1371600"/>
            <a:ext cx="1024128" cy="347472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E6B422"/>
                </a:solidFill>
                <a:latin typeface="Microsoft YaHei"/>
              </a:defRPr>
            </a:pPr>
            <a:r>
              <a:t>容错(3)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" y="171907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6B422"/>
                </a:solidFill>
                <a:latin typeface="Microsoft YaHei"/>
              </a:defRPr>
            </a:pPr>
            <a:r>
              <a:t>管道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52728" y="171907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76856" y="171907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0984" y="171907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171907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171907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171907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171907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21624" y="171907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5752" y="171907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206654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6B422"/>
                </a:solidFill>
                <a:latin typeface="Microsoft YaHei"/>
              </a:defRPr>
            </a:pPr>
            <a:r>
              <a:t>面向对象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52728" y="206654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76856" y="206654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00984" y="206654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5112" y="206654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9240" y="206654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73368" y="206654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97496" y="206654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21624" y="206654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45752" y="206654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" y="2414016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6B422"/>
                </a:solidFill>
                <a:latin typeface="Microsoft YaHei"/>
              </a:defRPr>
            </a:pPr>
            <a:r>
              <a:t>事件驱动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52728" y="2414016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76856" y="2414016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00984" y="2414016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5112" y="2414016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49240" y="2414016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73368" y="2414016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97496" y="2414016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21624" y="2414016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45752" y="2414016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" y="2761488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6B422"/>
                </a:solidFill>
                <a:latin typeface="Microsoft YaHei"/>
              </a:defRPr>
            </a:pPr>
            <a:r>
              <a:t>层次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52728" y="2761488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76856" y="2761488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00984" y="2761488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25112" y="2761488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49240" y="2761488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73368" y="2761488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97496" y="2761488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21624" y="2761488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45752" y="2761488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28600" y="3108960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6B422"/>
                </a:solidFill>
                <a:latin typeface="Microsoft YaHei"/>
              </a:defRPr>
            </a:pPr>
            <a:r>
              <a:t>仓库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52728" y="3108960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276856" y="3108960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00984" y="3108960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25112" y="3108960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49240" y="3108960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73368" y="3108960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97496" y="3108960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421624" y="3108960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445752" y="3108960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28600" y="345643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6B422"/>
                </a:solidFill>
                <a:latin typeface="Microsoft YaHei"/>
              </a:defRPr>
            </a:pPr>
            <a:r>
              <a:t>客户-服务器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52728" y="345643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276856" y="345643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300984" y="345643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325112" y="345643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49240" y="345643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73368" y="345643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97496" y="345643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421624" y="345643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445752" y="3456432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28600" y="380390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6B422"/>
                </a:solidFill>
                <a:latin typeface="Microsoft YaHei"/>
              </a:defRPr>
            </a:pPr>
            <a:r>
              <a:t>对等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252728" y="380390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276856" y="380390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300984" y="380390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325112" y="380390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49240" y="380390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73368" y="380390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555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397496" y="380390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421624" y="380390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445752" y="3803904"/>
            <a:ext cx="1024128" cy="329184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CC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8600" y="4297680"/>
            <a:ext cx="1143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6B422"/>
                </a:solidFill>
                <a:latin typeface="Microsoft YaHei"/>
              </a:defRPr>
            </a:pPr>
            <a:r>
              <a:t>期望值向量 AT：(4,4,3,3,4,3,2,1,3)  |  风格匹配矩阵 B：各行对应管道/面向对象/事件驱动/层次/仓库/客户-服务器/对等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8600" y="4572000"/>
            <a:ext cx="1143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6B422"/>
                </a:solidFill>
                <a:latin typeface="Microsoft YaHei"/>
              </a:defRPr>
            </a:pPr>
            <a:r>
              <a:t>选择分 = Σ(期望值 × 匹配分)    →    完美分 = 4×5+4×5+3×5+3×5+4×5+3×5+2×5+1×5+3×5 = 135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8600" y="4892040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99999"/>
                </a:solidFill>
                <a:latin typeface="Microsoft YaHei"/>
              </a:defRPr>
            </a:pPr>
            <a:r>
              <a:t>  管道：98分  (4×5 + 4×5 + 3×1 + 3×5 + 4×5 + 3×2 + 2×5 + 1×1 + 3×1)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600" y="5093208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99999"/>
                </a:solidFill>
                <a:latin typeface="Microsoft YaHei"/>
              </a:defRPr>
            </a:pPr>
            <a:r>
              <a:t>  面向对象：97分  (4×5 + 4×5 + 3×5 + 3×1 + 4×5 + 3×1 + 2×4 + 1×5 + 3×1)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600" y="5294376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99999"/>
                </a:solidFill>
                <a:latin typeface="Microsoft YaHei"/>
              </a:defRPr>
            </a:pPr>
            <a:r>
              <a:t>  事件驱动：108分  (4×5 + 4×5 + 3×5 + 3×5 + 4×2 + 3×1 + 2×4 + 1×4 + 3×5)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8600" y="5495544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99999"/>
                </a:solidFill>
                <a:latin typeface="Microsoft YaHei"/>
              </a:defRPr>
            </a:pPr>
            <a:r>
              <a:t>  层次：87分  (4×3 + 4×5 + 3×1 + 3×4 + 4×5 + 3×4 + 2×2 + 1×1 + 3×1)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8600" y="569671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99999"/>
                </a:solidFill>
                <a:latin typeface="Microsoft YaHei"/>
              </a:defRPr>
            </a:pPr>
            <a:r>
              <a:t>  仓库：102分  (4×5 + 4×5 + 3×5 + 3×3 + 4×4 + 3×1 + 2×4 + 1×5 + 3×2)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8600" y="5897880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99999"/>
                </a:solidFill>
                <a:latin typeface="Microsoft YaHei"/>
              </a:defRPr>
            </a:pPr>
            <a:r>
              <a:t>  客户-服务器：101分  (4×5 + 4×5 + 3×5 + 3×3 + 4×5 + 3×1 + 2×3 + 1×5 + 3×1)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8600" y="6099048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99999"/>
                </a:solidFill>
                <a:latin typeface="Microsoft YaHei"/>
              </a:defRPr>
            </a:pPr>
            <a:r>
              <a:t>  对等：107分  (4×5 + 4×5 + 3×5 + 3×1 + 4×5 + 3×1 + 2×4 + 1×3 + 3×5)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体系选择矩阵法 — 最终选择与评估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029200" cy="237744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E6B422"/>
                </a:solidFill>
                <a:latin typeface="Microsoft YaHei"/>
              </a:defRPr>
            </a:pPr>
            <a:r>
              <a:t>各体系结构风格等级评分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91640"/>
            <a:ext cx="44805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114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CC66"/>
                </a:solidFill>
                <a:latin typeface="Microsoft YaHei"/>
              </a:defRPr>
            </a:pPr>
            <a:r>
              <a:t>★★ 事件驱动: 108/135 = 80分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93976"/>
            <a:ext cx="4114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0CC66"/>
                </a:solidFill>
                <a:latin typeface="Microsoft YaHei"/>
              </a:defRPr>
            </a:pPr>
            <a:r>
              <a:t>  对等: 107/135 = 79分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4114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99FF"/>
                </a:solidFill>
                <a:latin typeface="Microsoft YaHei"/>
              </a:defRPr>
            </a:pPr>
            <a:r>
              <a:t>★ 仓库: 102/135 = 76分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4114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99FF"/>
                </a:solidFill>
                <a:latin typeface="Microsoft YaHei"/>
              </a:defRPr>
            </a:pPr>
            <a:r>
              <a:t>★ 客户-服务器: 101/135 = 75分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9504"/>
            <a:ext cx="4114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管道: 98/135 = 73分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4114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面向对象: 97/135 = 72分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19856"/>
            <a:ext cx="4114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  层次: 87/135 = 64分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280160"/>
            <a:ext cx="5669280" cy="237744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37160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E6B422"/>
                </a:solidFill>
                <a:latin typeface="Microsoft YaHei"/>
              </a:defRPr>
            </a:pPr>
            <a:r>
              <a:t>最终选择策略（混合风格）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512064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14630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整体框架: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828800"/>
            <a:ext cx="3657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B/S（客户-服务器变体）+ 分层架构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57984"/>
            <a:ext cx="14630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前端交互: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157984"/>
            <a:ext cx="3657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MVVM（面向对象变体）+ 事件驱动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487168"/>
            <a:ext cx="14630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AI分析: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487168"/>
            <a:ext cx="3657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管道-过滤器风格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16352"/>
            <a:ext cx="14630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E6B422"/>
                </a:solidFill>
                <a:latin typeface="Microsoft YaHei"/>
              </a:defRPr>
            </a:pPr>
            <a:r>
              <a:t>数据存储: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816352"/>
            <a:ext cx="3657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仓库风格（MongoDB）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931920"/>
            <a:ext cx="10881360" cy="13716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2336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9900"/>
                </a:solidFill>
                <a:latin typeface="Microsoft YaHei"/>
              </a:defRPr>
            </a:pPr>
            <a:r>
              <a:t>需重点关注的弱项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389120"/>
            <a:ext cx="10332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接口变换：层次风格在该维度得分仅4分（满分5分），需在设计时多加小心，预留接口扩展空间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63440"/>
            <a:ext cx="10332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计算性能：AI调用存在网络延迟，需通过异步处理 + 多模型切换来缓解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37760"/>
            <a:ext cx="10332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整体策略：不依赖单一体系统结构风格，通过混合风格取长补短，以事件驱动为核心（80分最高），辅以其他风格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体系选择矩阵法定量验证了本项目混合风格选择的合理性。事件驱动风格得分最高(80分)，与其在AI实时分析和WebSocket通信中的核心地位一致。</a:t>
            </a:r>
            <a:br/>
            <a:r>
              <a:t>分层架构虽得分最低(64分)，但作为代码组织的基础模式仍不可或缺。混合风格使得各子系统均能匹配最合适的架构范式。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质量属性评估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54864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课程引用：「软件体系结构影响质量的两种方式：结构（组件之间的关联影响的质量，如重用、适应性）和实现（不同实现方法影响的质量，如安全、兼容性）」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94960" cy="40233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3399FF"/>
                </a:solidFill>
                <a:latin typeface="Microsoft YaHei"/>
              </a:defRPr>
            </a:pPr>
            <a:r>
              <a:t>性能（Performance）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502920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Vite构建优化，快速冷启动和HMR热模块替换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53512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Nginx Gzip压缩 + 静态资源长期缓存策略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92424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MongoDB索引优化（用户ID、帖子时间等高频查询字段）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31336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API频率限制（全局500次/15min，按IP计数）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7024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AI异步处理不阻塞主线程（Worker线程模式）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前端路由懒加载，按需加载代码块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65960"/>
            <a:ext cx="5394960" cy="40233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29968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00CC66"/>
                </a:solidFill>
                <a:latin typeface="Microsoft YaHei"/>
              </a:defRPr>
            </a:pPr>
            <a:r>
              <a:t>安全性（Security）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377440"/>
            <a:ext cx="502920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5146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JWT Token无状态认证（过期自动刷新）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53512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bcryptjs密码加盐哈希（saltRounds=10）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92424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Helmet安全HTTP头（XSS/点击劫持/嗅探防护）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31336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CORS跨域白名单（仅允许前端域名）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7024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登录接口独立限流（20次/15min防暴力破解）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091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管理员权限中间件（verifyAdmin）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质量属性评估（续）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651760" cy="40233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0CC66"/>
                </a:solidFill>
                <a:latin typeface="Microsoft YaHei"/>
              </a:defRPr>
            </a:pPr>
            <a:r>
              <a:t>可用性（Usability）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73352"/>
            <a:ext cx="237744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8套预设主题 + 自定义背景图片上传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Tailwind CSS响应式设计，适配多种屏幕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Element Plus企业级UI组件库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92424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直观的功能卡片导航布局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22776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阵容模拟器拖拽交互（HTML5 Drag &amp; Drop）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234440"/>
            <a:ext cx="2651760" cy="40233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1307592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399FF"/>
                </a:solidFill>
                <a:latin typeface="Microsoft YaHei"/>
              </a:defRPr>
            </a:pPr>
            <a:r>
              <a:t>可维护性（Maintainability）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6432" y="1673352"/>
            <a:ext cx="237744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801368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清晰的前后端分离、分层架构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3317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模块化代码组织（每个功能独立目录）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862072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统一API服务封装（Axios拦截器统一处理）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3392424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游戏数据支持后端动态更新（无需重新部署前端）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3922776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模块化代码组织（每个功能独立目录）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5624" y="1234440"/>
            <a:ext cx="2651760" cy="40233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1307592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9900"/>
                </a:solidFill>
                <a:latin typeface="Microsoft YaHei"/>
              </a:defRPr>
            </a:pPr>
            <a:r>
              <a:t>可靠性（Reliability）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2784" y="1673352"/>
            <a:ext cx="237744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1801368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数据加载回退机制（后端→本地硬编码数据）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3317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MongoDB连接5次自动重试（指数退避）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862072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AI多帧验证（5帧历史缓存 + 异常修正逻辑）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392424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全局错误边界统一处理（Vue errorHandler）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3922776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优雅降级：AI不可用时仍可手动使用其他功能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1976" y="1234440"/>
            <a:ext cx="2651760" cy="40233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97696" y="1307592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5555"/>
                </a:solidFill>
                <a:latin typeface="Microsoft YaHei"/>
              </a:defRPr>
            </a:pPr>
            <a:r>
              <a:t>可扩展性（Extensibility）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89136" y="1673352"/>
            <a:ext cx="237744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89136" y="1801368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Docker Compose容器编排（易横向扩展）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23317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RESTful API设计规范（版本化）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9136" y="2862072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AI模型可插拔设计（配置切换通义千问/智谱AI）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36" y="3392424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游戏数据版本管理（多赛季数据结构支持）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89136" y="3922776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CCCCCC"/>
                </a:solidFill>
                <a:latin typeface="Microsoft YaHei"/>
              </a:defRPr>
            </a:pPr>
            <a:r>
              <a:t>• 插件化主题系统（新增主题只需添加配置）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体系结构的设计与实现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99FF"/>
                </a:solidFill>
                <a:latin typeface="Microsoft YaHei"/>
              </a:defRPr>
            </a:pPr>
            <a:r>
              <a:t>▸ 商业原则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信息管理人人有责 | 使用通用软件（开源技术栈）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CC66"/>
                </a:solidFill>
                <a:latin typeface="Microsoft YaHei"/>
              </a:defRPr>
            </a:pPr>
            <a:r>
              <a:t>▸ 数据原则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数据资产（MongoDB统一管理） | 数据安全（JWT + bcryptjs加密） | 数据访问（RESTful API统一入口）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9900"/>
                </a:solidFill>
                <a:latin typeface="Microsoft YaHei"/>
              </a:defRPr>
            </a:pPr>
            <a:r>
              <a:t>▸ 应用程序原则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技术独立性（前后端分离） | 易用性（直观UI + 拖拽交互）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5555"/>
                </a:solidFill>
                <a:latin typeface="Microsoft YaHei"/>
              </a:defRPr>
            </a:pPr>
            <a:r>
              <a:t>▸ 技术原则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8211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需求变化响应（数据动态更新） | 互操作性（标准RESTful API）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20440"/>
            <a:ext cx="5029200" cy="127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E6B422"/>
                </a:solidFill>
                <a:latin typeface="Microsoft YaHei"/>
              </a:defRPr>
            </a:pPr>
            <a:r>
              <a:t>▸ 关键设计原则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0448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关注分离点：前端/后端/数据库三层分离，各司其职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97096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单一职责原则：每个组件/控制器只负责特定功能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89704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最少知识原则：组件通过Props/Events通信，不直访内部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8231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DRY原则：API封装复用（axios实例），组件复用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尽量减小前期设计：MVP迭代开发，快速验证核心功能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280160"/>
            <a:ext cx="5212080" cy="45720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3716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E6B422"/>
                </a:solidFill>
                <a:latin typeface="Microsoft YaHei"/>
              </a:defRPr>
            </a:pPr>
            <a:r>
              <a:t>关键架构决策记录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691640"/>
            <a:ext cx="466344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82880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6B422"/>
                </a:solidFill>
                <a:latin typeface="Microsoft YaHei"/>
              </a:defRPr>
            </a:pPr>
            <a:r>
              <a:t>▸ 前端框架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04825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Vue 3 (Composition API) + Vite — 轻量高效，Composition API提供更好的逻辑复用能力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46888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6B422"/>
                </a:solidFill>
                <a:latin typeface="Microsoft YaHei"/>
              </a:defRPr>
            </a:pPr>
            <a:r>
              <a:t>▸ 后端框架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68833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Express.js — 轻量灵活，与Node.js生态一致，学习成本低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10896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6B422"/>
                </a:solidFill>
                <a:latin typeface="Microsoft YaHei"/>
              </a:defRPr>
            </a:pPr>
            <a:r>
              <a:t>▸ 数据库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32841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MongoDB — 游戏数据结构灵活，赛季间字段变更频繁，文档型更适配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74904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6B422"/>
                </a:solidFill>
                <a:latin typeface="Microsoft YaHei"/>
              </a:defRPr>
            </a:pPr>
            <a:r>
              <a:t>▸ 实时通信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96849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Socket.IO — 兼容性好，自带重连和房间机制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38912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6B422"/>
                </a:solidFill>
                <a:latin typeface="Microsoft YaHei"/>
              </a:defRPr>
            </a:pPr>
            <a:r>
              <a:t>▸ AI服务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60857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通义千问 + 智谱AI双模型 — 提高可用性，避免单点依赖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02920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6B422"/>
                </a:solidFill>
                <a:latin typeface="Microsoft YaHei"/>
              </a:defRPr>
            </a:pPr>
            <a:r>
              <a:t>▸ 容器化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24865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Docker Compose — 简化部署，一键启动，环境一致性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体系结构设计威胁与应对策略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200400" cy="566928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B422"/>
                </a:solidFill>
                <a:latin typeface="Microsoft YaHei"/>
              </a:defRPr>
            </a:pPr>
            <a:r>
              <a:t>威胁（源自课件第14章）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371600"/>
            <a:ext cx="7680960" cy="566928"/>
          </a:xfrm>
          <a:prstGeom prst="roundRect">
            <a:avLst/>
          </a:prstGeom>
          <a:solidFill>
            <a:srgbClr val="1F1F3A"/>
          </a:solidFill>
          <a:ln w="63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B422"/>
                </a:solidFill>
                <a:latin typeface="Microsoft YaHei"/>
              </a:defRPr>
            </a:pPr>
            <a:r>
              <a:t>本项目应对策略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29968"/>
            <a:ext cx="3200400" cy="56692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900"/>
                </a:solidFill>
                <a:latin typeface="Microsoft YaHei"/>
              </a:defRPr>
            </a:pPr>
            <a:r>
              <a:t>被忽略的非功能需求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029968"/>
            <a:ext cx="7680960" cy="56692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初期即定义安全、性能、可用性需求 → JWT认证 + API限流 + 数据回退机制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88336"/>
            <a:ext cx="3200400" cy="56692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900"/>
                </a:solidFill>
                <a:latin typeface="Microsoft YaHei"/>
              </a:defRPr>
            </a:pPr>
            <a:r>
              <a:t>频繁变化的需求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688336"/>
            <a:ext cx="7680960" cy="56692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关键需求决定体系结构 → 阵容模拟+AI分析为核心，其他功能可渐进扩展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46704"/>
            <a:ext cx="3200400" cy="56692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900"/>
                </a:solidFill>
                <a:latin typeface="Microsoft YaHei"/>
              </a:defRPr>
            </a:pPr>
            <a:r>
              <a:t>考虑不全面的设计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3346704"/>
            <a:ext cx="7680960" cy="56692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多视图探寻 → 采用4+1视图从5个维度全面描述体系结构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05072"/>
            <a:ext cx="3200400" cy="56692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900"/>
                </a:solidFill>
                <a:latin typeface="Microsoft YaHei"/>
              </a:defRPr>
            </a:pPr>
            <a:r>
              <a:t>不及时的验证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4005072"/>
            <a:ext cx="7680960" cy="56692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尽早验证 → 开发过程中持续进行功能测试和API自动化测试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63440"/>
            <a:ext cx="3200400" cy="56692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900"/>
                </a:solidFill>
                <a:latin typeface="Microsoft YaHei"/>
              </a:defRPr>
            </a:pPr>
            <a:r>
              <a:t>过高创新比重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4663440"/>
            <a:ext cx="7680960" cy="56692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80%经验+20%创新 → 成熟技术栈(Vue/Express/MongoDB) + 创新点(AI视觉分析)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21808"/>
            <a:ext cx="3200400" cy="56692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900"/>
                </a:solidFill>
                <a:latin typeface="Microsoft YaHei"/>
              </a:defRPr>
            </a:pPr>
            <a:r>
              <a:t>低可执行性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5321808"/>
            <a:ext cx="7680960" cy="566928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Docker容器化确保环境一致性 → start.bat一键启动，降低部署门槛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总结：本项目在设计初期就充分考虑了课件第14章提出的6大威胁，通过4+1视图建模、体系选择矩阵法、Docker容器化、持续测试等策略进行了有效应对。</a:t>
            </a:r>
            <a:br/>
            <a:r>
              <a:t>特别是「80%经验+20%创新」原则，既保证了项目的可行性，又通过AI视觉分析这一创新点体现了技术前瞻性。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566160" cy="41148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E6B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E6B422"/>
                </a:solidFill>
                <a:latin typeface="Microsoft YaHei"/>
              </a:defRPr>
            </a:pPr>
            <a:r>
              <a:t>项目成果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3017520" cy="254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功能完整的全栈Web应用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59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22页面 + 12组API + 10个数据模型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98064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采用5种混合体系结构风格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3697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4+1视图全面描述体系结构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75888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体系选择矩阵法科学验证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148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Docker容器化，一键部署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234440"/>
            <a:ext cx="3566160" cy="41148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32588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3399FF"/>
                </a:solidFill>
                <a:latin typeface="Microsoft YaHei"/>
              </a:defRPr>
            </a:pPr>
            <a:r>
              <a:t>创新点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1737360"/>
            <a:ext cx="3017520" cy="254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9202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AI视觉大模型实时对战指导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59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通义千问/智谱AI双模型可切换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798064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LCU客户端数据桥接获取战绩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3697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多帧交叉验证提高AI准确率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675888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拖拽式阵容模拟器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148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深度集成游戏数据与社区功能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234440"/>
            <a:ext cx="3566160" cy="41148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132588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CC66"/>
                </a:solidFill>
                <a:latin typeface="Microsoft YaHei"/>
              </a:defRPr>
            </a:pPr>
            <a:r>
              <a:t>未来展望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1737360"/>
            <a:ext cx="3017520" cy="254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19202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支持更多赛季数据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359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PWA移动端适配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798064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AI模型针对性微调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23697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个性化阵容推荐算法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3675888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战绩数据分析与可视化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41148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▸ 社区功能增强（关注/点赞/分享）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本项目通过对软件体系结构课程知识的系统应用，实现了从需求分析到体系结构设计、实现、验证的完整闭环。4+1视图建模和体系选择矩阵法的综合运用，为「掌上金铲铲」奠定了坚实的架构基础。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381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E6B422"/>
                </a:solidFill>
                <a:latin typeface="Microsoft YaHei"/>
              </a:defRPr>
            </a:pPr>
            <a:r>
              <a:t>参考文献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881360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[1] Philippe Kruchten, "Architectural Blueprints—The 4+1 View Model of Software Architecture", IEEE Software 12(6), 1995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[2] 赵庆玲, 《软件体系结构》课程课件, 南京理工大学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969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[3] Len Bass, Paul Clements, Rick Kazman, 《Software Architecture in Practice》(第3版), Addison-Wesley, 2013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23744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[4] Vue 3 官方文档, https://cn.vuejs.org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0779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[5] Express.js 官方文档, https://expressjs.com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[6] MongoDB 官方文档, https://docs.mongodb.com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75888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[7] Socket.IO 官方文档, https://socket.io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5993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[8] Docker 官方文档, https://docs.docker.com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4718304"/>
            <a:ext cx="6705295" cy="25400"/>
          </a:xfrm>
          <a:prstGeom prst="rect">
            <a:avLst/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58384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E6B422"/>
                </a:solidFill>
                <a:latin typeface="Microsoft YaHei"/>
              </a:defRPr>
            </a:pPr>
            <a:r>
              <a:t>感谢聆听 · 欢迎提问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089904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南京理工大学 · 软件体系结构课程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